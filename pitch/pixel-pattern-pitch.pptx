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s — Buenas, somos [Nombre del equipo] y esto es Pixel Pattern. En cuatro minutos os enseñamos cómo convertir una foto en un patrón de HAMA o punto de cruz y cómo compartirlo con una comunidad que los hace. Vamos al lío.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30 s — Si alguna vez habéis hecho un patrón desde una foto, conocéis el dolor: cuentas cuadraditos a mano y buscas un color que se parezca... y resulta que no existe en Hama ni en DMC. Y lo que hay en Pinterest o en blogs está en una imagen, sin lista de materiales ni progreso. El patrón es bonito; hacerlo es otra historia.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25 s — Pixel Pattern junta las tres piezas que faltaban. Conviertes una foto o un dibujo en un patrón con colores reales de fabricante; lo editas cuenta a cuenta y te llevas un PDF con la lista de materiales; y lo publicas en una comunidad con feed, perfiles y remix. Crear, hacer y compartir, por fin juntos.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30 s — Aquí está el corazón del producto. Subes una foto y, con un par de ajustes, la simplificamos a un dibujo: menos colores y formas más limpias. Después la pasamos a la paleta real de Hama o DMC, así que cada color se puede comprar. Y si algo no te convence, cambias las cuentas una a una en el editor.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40 s — Por dentro es una cadena de pasos. Suavizamos con OpenCV para quitar ruido; reducimos a la rejilla; agrupamos los colores con k-means en espacio CIELAB, no en RGB. ¿Por qué? Porque CIELAB mide la distancia de color como la percibe el ojo: dos rojos casi iguales quedan cerca, y no nos llevamos un azul raro solo porque lo digan los números. Después emparejamos con la paleta real del fabricante, limpiamos píxeles sueltos y listo.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30 s — Una vez publicado, cualquiera puede abrirlo en modo hacer. Se sigue color por color, que es como se trabaja de verdad: pones todas las cuentas de un color y no vas cambiando de bote. Marcas las que llevas, ves el progreso y tienes la lista de materiales con las cuentas y las placas. Al terminar, exportas el PDF y lo imprimes.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30 s — La parte social es intencionadamente familiar: feed tipo Instagram, con likes, guardados y comentarios; perfiles a los que seguir; y un botón de remix para adaptar el patrón de otra persona. El buscador encuentra perfiles, patrones y hashtags: buscas gato o pixel art y encuentras ideas y gente a la que seguir. La comunidad es lo que hace crecer el catálogo.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25 s — Técnicamente no hay magia: React y TypeScript en el frontend, FastAPI y SQLite detrás, y un motor en Python con NumPy, OpenCV y scikit-learn. El PDF se genera con ReportLab. Todo habla por una API REST con el mismo contrato de datos, PatternData. Eso nos permitió construir en paralelo sin pisarnos.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25 s — Y aquí está la parte de la que estamos más orgullosos: cinco personas, cinco ramas y un contrato de API cerrado desde el minuto cero. Cada persona era dueña de sus archivos, así que los merges salieron limpios. Trabajamos con agentes de IA de opencode: nos repartimos el producto, no los conflictos de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20 s — ¿Y después? Más marcas de cuentas e hilos, una app móvil con cámara, patrones 3D para HAMA y, a más largo plazo, una tienda de kits con los materiales exactos de cada patrón. Cerrar el círculo entre la idea y la manualidad.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s — Esto es Pixel Pattern: una forma más rápida de pasar de una foto a algo que puedes hacer con las manos, y una comunidad para compartirlo. El código y la demo están en el QR. Gracias, y ahora... ¡a hacer patrones!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E8456B"/>
                </a:solidFill>
                <a:latin typeface="Segoe UI"/>
              </a:rPr>
              <a:t>PITCH · 4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70432"/>
            <a:ext cx="6583680" cy="22402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</a:pPr>
            <a:r>
              <a:rPr sz="6800" b="1" i="0">
                <a:solidFill>
                  <a:srgbClr val="1F1D2B"/>
                </a:solidFill>
                <a:latin typeface="Segoe UI"/>
              </a:rPr>
              <a:t>Pixel</a:t>
            </a:r>
          </a:p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</a:pPr>
            <a:r>
              <a:rPr sz="6800" b="1" i="0">
                <a:solidFill>
                  <a:srgbClr val="1F1D2B"/>
                </a:solidFill>
                <a:latin typeface="Segoe UI"/>
              </a:rPr>
              <a:t>Pattern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593592"/>
            <a:ext cx="1051560" cy="6400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931920"/>
            <a:ext cx="6035040" cy="10058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6E6A7C"/>
                </a:solidFill>
                <a:latin typeface="Segoe UI"/>
              </a:rPr>
              <a:t>Crea, comparte y haz patrones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6E6A7C"/>
                </a:solidFill>
                <a:latin typeface="Segoe UI"/>
              </a:rPr>
              <a:t>de HAMA y punto de cruz</a:t>
            </a:r>
          </a:p>
        </p:txBody>
      </p:sp>
      <p:sp>
        <p:nvSpPr>
          <p:cNvPr id="6" name="Rectangle 5"/>
          <p:cNvSpPr/>
          <p:nvPr/>
        </p:nvSpPr>
        <p:spPr>
          <a:xfrm>
            <a:off x="8526780" y="1444752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97112" y="1444752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378440" y="1444752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748772" y="1444752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56448" y="1815084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26780" y="1815084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97112" y="1815084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267444" y="1815084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08108" y="1815084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378440" y="1815084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748772" y="1815084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119104" y="1815084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185416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26780" y="2185416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97112" y="2185416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67444" y="2185416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37776" y="2185416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08108" y="2185416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378440" y="2185416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748772" y="2185416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119104" y="2185416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56448" y="2555748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26780" y="2555748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97112" y="2555748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67444" y="2555748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37776" y="2555748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08108" y="2555748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378440" y="2555748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748772" y="2555748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119104" y="2555748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26780" y="2926080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97112" y="2926080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67444" y="2926080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37776" y="2926080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08108" y="2926080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78440" y="2926080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748772" y="2926080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897112" y="3296412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267444" y="3296412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37776" y="3296412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008108" y="3296412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378440" y="3296412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67444" y="3666744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637776" y="3666744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008108" y="3666744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637776" y="4037076"/>
            <a:ext cx="333756" cy="3337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56448" y="4736592"/>
            <a:ext cx="333756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120">
                <a:solidFill>
                  <a:srgbClr val="6E6A7C"/>
                </a:solidFill>
                <a:latin typeface="Segoe UI"/>
              </a:rPr>
              <a:t>1 píxel = 1 cuenta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59552"/>
            <a:ext cx="59436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1D2B"/>
                </a:solidFill>
                <a:latin typeface="Segoe UI"/>
              </a:rPr>
              <a:t>[Nombre del hackathon]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52160"/>
            <a:ext cx="59436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E6A7C"/>
                </a:solidFill>
                <a:latin typeface="Segoe UI"/>
              </a:rPr>
              <a:t>[Nombre del equipo]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E8456B"/>
                </a:solidFill>
                <a:latin typeface="Segoe UI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F1D2B"/>
                </a:solidFill>
                <a:latin typeface="Segoe UI"/>
              </a:rPr>
              <a:t>Crear un patrón desde una foto es tedioso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50008"/>
            <a:ext cx="502920" cy="3200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20">
                <a:solidFill>
                  <a:srgbClr val="E8456B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7" y="2313432"/>
            <a:ext cx="5394960" cy="5029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F1D2B"/>
                </a:solidFill>
                <a:latin typeface="Segoe UI"/>
              </a:rPr>
              <a:t>Contar cuentas a mano</a:t>
            </a:r>
          </a:p>
        </p:txBody>
      </p:sp>
      <p:sp>
        <p:nvSpPr>
          <p:cNvPr id="7" name="Rectangle 6"/>
          <p:cNvSpPr/>
          <p:nvPr/>
        </p:nvSpPr>
        <p:spPr>
          <a:xfrm>
            <a:off x="1435607" y="2898648"/>
            <a:ext cx="4709160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191256"/>
            <a:ext cx="502920" cy="3200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20">
                <a:solidFill>
                  <a:srgbClr val="E8456B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7" y="3154679"/>
            <a:ext cx="5394960" cy="5029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F1D2B"/>
                </a:solidFill>
                <a:latin typeface="Segoe UI"/>
              </a:rPr>
              <a:t>Colores que no existen en tu marca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35607" y="3739896"/>
            <a:ext cx="4709160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032503"/>
            <a:ext cx="502920" cy="3200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20">
                <a:solidFill>
                  <a:srgbClr val="E8456B"/>
                </a:solidFill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7" y="3995928"/>
            <a:ext cx="5394960" cy="5029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F1D2B"/>
                </a:solidFill>
                <a:latin typeface="Segoe UI"/>
              </a:rPr>
              <a:t>Dispersos en Pinterest, sin forma de hacerlos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79792" y="2240280"/>
            <a:ext cx="393192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5" y="2514600"/>
            <a:ext cx="3291839" cy="9601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i="0">
                <a:solidFill>
                  <a:srgbClr val="E8456B"/>
                </a:solidFill>
                <a:latin typeface="Segoe UI"/>
              </a:rPr>
              <a:t>4.800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8975" y="3474720"/>
            <a:ext cx="3291839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E6A7C"/>
                </a:solidFill>
                <a:latin typeface="Segoe UI"/>
              </a:rPr>
              <a:t>cuentas en 80 × 60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27264" y="408736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4087368"/>
            <a:ext cx="141732" cy="14173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4" y="408736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75904" y="408736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58784" y="4087368"/>
            <a:ext cx="141732" cy="14173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41664" y="408736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24544" y="408736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07424" y="408736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27264" y="427024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10144" y="427024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93024" y="4270248"/>
            <a:ext cx="141732" cy="14173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75904" y="427024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58784" y="427024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741664" y="427024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24544" y="427024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07424" y="427024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27264" y="4453128"/>
            <a:ext cx="141732" cy="14173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10144" y="445312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93024" y="445312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75904" y="445312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58784" y="445312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741664" y="4453128"/>
            <a:ext cx="141732" cy="14173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24544" y="445312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07424" y="445312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827264" y="463600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10144" y="463600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93024" y="463600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375904" y="4636008"/>
            <a:ext cx="141732" cy="14173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558784" y="463600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41664" y="463600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924544" y="463600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07424" y="463600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27264" y="481888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10144" y="4818888"/>
            <a:ext cx="141732" cy="14173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93024" y="481888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375904" y="481888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558784" y="4818888"/>
            <a:ext cx="141732" cy="14173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741664" y="481888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24544" y="481888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07424" y="4818888"/>
            <a:ext cx="141732" cy="14173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Pixel Pattern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E8456B"/>
                </a:solidFill>
                <a:latin typeface="Segoe UI"/>
              </a:rPr>
              <a:t>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F1D2B"/>
                </a:solidFill>
                <a:latin typeface="Segoe UI"/>
              </a:rPr>
              <a:t>Una app, todo el ciclo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8" y="2304288"/>
            <a:ext cx="118872" cy="11887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403" y="2304288"/>
            <a:ext cx="118872" cy="118872"/>
          </a:xfrm>
          <a:prstGeom prst="rect">
            <a:avLst/>
          </a:prstGeom>
          <a:solidFill>
            <a:srgbClr val="F28C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5528" y="2455164"/>
            <a:ext cx="118872" cy="118872"/>
          </a:xfrm>
          <a:prstGeom prst="rect">
            <a:avLst/>
          </a:prstGeom>
          <a:solidFill>
            <a:srgbClr val="1F1D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46403" y="2455164"/>
            <a:ext cx="118872" cy="118872"/>
          </a:xfrm>
          <a:prstGeom prst="rect">
            <a:avLst/>
          </a:prstGeom>
          <a:solidFill>
            <a:srgbClr val="CB31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286000"/>
            <a:ext cx="20116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E8456B"/>
                </a:solidFill>
                <a:latin typeface="Segoe UI"/>
              </a:rPr>
              <a:t>CREA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578608"/>
            <a:ext cx="4206240" cy="7132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F1D2B"/>
                </a:solidFill>
                <a:latin typeface="Segoe UI"/>
              </a:rPr>
              <a:t>Foto o dibujo → patrón con colores Hama y DMC.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8" y="3419856"/>
            <a:ext cx="118872" cy="11887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6403" y="3419856"/>
            <a:ext cx="118872" cy="118872"/>
          </a:xfrm>
          <a:prstGeom prst="rect">
            <a:avLst/>
          </a:prstGeom>
          <a:solidFill>
            <a:srgbClr val="F28C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" y="3570732"/>
            <a:ext cx="118872" cy="118872"/>
          </a:xfrm>
          <a:prstGeom prst="rect">
            <a:avLst/>
          </a:prstGeom>
          <a:solidFill>
            <a:srgbClr val="1F1D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3" y="3570732"/>
            <a:ext cx="118872" cy="118872"/>
          </a:xfrm>
          <a:prstGeom prst="rect">
            <a:avLst/>
          </a:prstGeom>
          <a:solidFill>
            <a:srgbClr val="CB31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401568"/>
            <a:ext cx="20116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E8456B"/>
                </a:solidFill>
                <a:latin typeface="Segoe UI"/>
              </a:rPr>
              <a:t>HAZ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694176"/>
            <a:ext cx="4206240" cy="7132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F1D2B"/>
                </a:solidFill>
                <a:latin typeface="Segoe UI"/>
              </a:rPr>
              <a:t>Edita, exporta e imprime.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8" y="4535423"/>
            <a:ext cx="118872" cy="11887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6403" y="4535423"/>
            <a:ext cx="118872" cy="118872"/>
          </a:xfrm>
          <a:prstGeom prst="rect">
            <a:avLst/>
          </a:prstGeom>
          <a:solidFill>
            <a:srgbClr val="F28C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" y="4686299"/>
            <a:ext cx="118872" cy="118872"/>
          </a:xfrm>
          <a:prstGeom prst="rect">
            <a:avLst/>
          </a:prstGeom>
          <a:solidFill>
            <a:srgbClr val="1F1D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6403" y="4686299"/>
            <a:ext cx="118872" cy="118872"/>
          </a:xfrm>
          <a:prstGeom prst="rect">
            <a:avLst/>
          </a:prstGeom>
          <a:solidFill>
            <a:srgbClr val="CB31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517136"/>
            <a:ext cx="20116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E8456B"/>
                </a:solidFill>
                <a:latin typeface="Segoe UI"/>
              </a:rPr>
              <a:t>COMPARTE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809744"/>
            <a:ext cx="4206240" cy="7132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F1D2B"/>
                </a:solidFill>
                <a:latin typeface="Segoe UI"/>
              </a:rPr>
              <a:t>Feed, perfiles y remix.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2011680"/>
            <a:ext cx="5029200" cy="3611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73952" y="2130552"/>
            <a:ext cx="4791456" cy="3374136"/>
          </a:xfrm>
          <a:prstGeom prst="roundRect">
            <a:avLst>
              <a:gd name="adj" fmla="val 2000"/>
            </a:avLst>
          </a:prstGeom>
          <a:solidFill>
            <a:srgbClr val="ECE5DC"/>
          </a:solidFill>
          <a:ln w="15875">
            <a:solidFill>
              <a:srgbClr val="C9BF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3634740"/>
            <a:ext cx="4791456" cy="36576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E6A7C"/>
                </a:solidFill>
                <a:latin typeface="Segoe UI"/>
              </a:rPr>
              <a:t>Captura: crear.png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Pixel Pattern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E8456B"/>
                </a:solidFill>
                <a:latin typeface="Segoe UI"/>
              </a:rPr>
              <a:t>DEMO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F1D2B"/>
                </a:solidFill>
                <a:latin typeface="Segoe UI"/>
              </a:rPr>
              <a:t>De foto a patrón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5217" y="2523744"/>
            <a:ext cx="10972" cy="2615184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3317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BE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384048" cy="38404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456B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286000"/>
            <a:ext cx="388620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F1D2B"/>
                </a:solidFill>
                <a:latin typeface="Segoe UI"/>
              </a:rPr>
              <a:t>Sube tu foto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BE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384048" cy="38404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456B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3154680"/>
            <a:ext cx="388620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F1D2B"/>
                </a:solidFill>
                <a:latin typeface="Segoe UI"/>
              </a:rPr>
              <a:t>Simplifica a dibujo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06907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BE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69079"/>
            <a:ext cx="384048" cy="38404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456B"/>
                </a:solidFill>
                <a:latin typeface="Segoe U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4023359"/>
            <a:ext cx="388620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F1D2B"/>
                </a:solidFill>
                <a:latin typeface="Segoe UI"/>
              </a:rPr>
              <a:t>Colores reales Hama / DMC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93775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BE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937759"/>
            <a:ext cx="384048" cy="38404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456B"/>
                </a:solidFill>
                <a:latin typeface="Segoe U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4892040"/>
            <a:ext cx="388620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F1D2B"/>
                </a:solidFill>
                <a:latin typeface="Segoe UI"/>
              </a:rPr>
              <a:t>Retoca cuenta a cuenta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88152" y="1389888"/>
            <a:ext cx="5641848" cy="455371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07024" y="1508760"/>
            <a:ext cx="5404104" cy="4315968"/>
          </a:xfrm>
          <a:prstGeom prst="roundRect">
            <a:avLst>
              <a:gd name="adj" fmla="val 2000"/>
            </a:avLst>
          </a:prstGeom>
          <a:solidFill>
            <a:srgbClr val="ECE5DC"/>
          </a:solidFill>
          <a:ln w="15875">
            <a:solidFill>
              <a:srgbClr val="C9BF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07024" y="3483863"/>
            <a:ext cx="5404104" cy="36576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E6A7C"/>
                </a:solidFill>
                <a:latin typeface="Segoe UI"/>
              </a:rPr>
              <a:t>Captura: foto-a-patron.png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Pixel Pattern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E8456B"/>
                </a:solidFill>
                <a:latin typeface="Segoe UI"/>
              </a:rPr>
              <a:t>CÓMO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F1D2B"/>
                </a:solidFill>
                <a:latin typeface="Segoe UI"/>
              </a:rPr>
              <a:t>Del píxel al patrón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1280160" cy="1645920"/>
          </a:xfrm>
          <a:prstGeom prst="roundRect">
            <a:avLst>
              <a:gd name="adj" fmla="val 5000"/>
            </a:avLst>
          </a:prstGeom>
          <a:solidFill>
            <a:srgbClr val="1F1D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450592"/>
            <a:ext cx="457200" cy="20116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E7DED4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1097280" cy="56692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Foto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438144"/>
            <a:ext cx="1133856" cy="34747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7DED4"/>
                </a:solidFill>
                <a:latin typeface="Segoe UI"/>
              </a:rPr>
              <a:t/>
            </a:r>
          </a:p>
        </p:txBody>
      </p:sp>
      <p:sp>
        <p:nvSpPr>
          <p:cNvPr id="9" name="Right Arrow 8"/>
          <p:cNvSpPr/>
          <p:nvPr/>
        </p:nvSpPr>
        <p:spPr>
          <a:xfrm>
            <a:off x="2115921" y="3072384"/>
            <a:ext cx="164592" cy="164592"/>
          </a:xfrm>
          <a:prstGeom prst="rightArrow">
            <a:avLst/>
          </a:prstGeom>
          <a:solidFill>
            <a:srgbClr val="C9C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36749" y="2331720"/>
            <a:ext cx="128016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5621" y="2450592"/>
            <a:ext cx="457200" cy="20116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6E6A7C"/>
                </a:solidFill>
                <a:latin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8189" y="2743200"/>
            <a:ext cx="1097280" cy="56692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D2B"/>
                </a:solidFill>
                <a:latin typeface="Segoe UI"/>
              </a:rPr>
              <a:t>Suavizado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9901" y="3438144"/>
            <a:ext cx="1133856" cy="34747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7C"/>
                </a:solidFill>
                <a:latin typeface="Segoe UI"/>
              </a:rPr>
              <a:t>OpenCV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675430" y="3072384"/>
            <a:ext cx="164592" cy="164592"/>
          </a:xfrm>
          <a:prstGeom prst="rightArrow">
            <a:avLst/>
          </a:prstGeom>
          <a:solidFill>
            <a:srgbClr val="C9C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96258" y="2331720"/>
            <a:ext cx="128016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5130" y="2450592"/>
            <a:ext cx="457200" cy="20116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6E6A7C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7698" y="2743200"/>
            <a:ext cx="1097280" cy="56692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D2B"/>
                </a:solidFill>
                <a:latin typeface="Segoe UI"/>
              </a:rPr>
              <a:t>Rejilla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9410" y="3438144"/>
            <a:ext cx="1133856" cy="34747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7C"/>
                </a:solidFill>
                <a:latin typeface="Segoe UI"/>
              </a:rPr>
              <a:t/>
            </a:r>
          </a:p>
        </p:txBody>
      </p:sp>
      <p:sp>
        <p:nvSpPr>
          <p:cNvPr id="19" name="Right Arrow 18"/>
          <p:cNvSpPr/>
          <p:nvPr/>
        </p:nvSpPr>
        <p:spPr>
          <a:xfrm>
            <a:off x="5234940" y="3072384"/>
            <a:ext cx="164592" cy="164592"/>
          </a:xfrm>
          <a:prstGeom prst="rightArrow">
            <a:avLst/>
          </a:prstGeom>
          <a:solidFill>
            <a:srgbClr val="C9C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55767" y="2331720"/>
            <a:ext cx="1280160" cy="1645920"/>
          </a:xfrm>
          <a:prstGeom prst="roundRect">
            <a:avLst>
              <a:gd name="adj" fmla="val 5000"/>
            </a:avLst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4639" y="2450592"/>
            <a:ext cx="457200" cy="20116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7207" y="2743200"/>
            <a:ext cx="1097280" cy="56692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k-means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28919" y="3438144"/>
            <a:ext cx="1133856" cy="34747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CIELAB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794449" y="3072384"/>
            <a:ext cx="164592" cy="164592"/>
          </a:xfrm>
          <a:prstGeom prst="rightArrow">
            <a:avLst/>
          </a:prstGeom>
          <a:solidFill>
            <a:srgbClr val="C9C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15276" y="2331720"/>
            <a:ext cx="128016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4148" y="2450592"/>
            <a:ext cx="457200" cy="20116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6E6A7C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6716" y="2743200"/>
            <a:ext cx="1097280" cy="56692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D2B"/>
                </a:solidFill>
                <a:latin typeface="Segoe UI"/>
              </a:rPr>
              <a:t>Paleta real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8428" y="3438144"/>
            <a:ext cx="1133856" cy="34747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7C"/>
                </a:solidFill>
                <a:latin typeface="Segoe UI"/>
              </a:rPr>
              <a:t>Hama · DMC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353958" y="3072384"/>
            <a:ext cx="164592" cy="164592"/>
          </a:xfrm>
          <a:prstGeom prst="rightArrow">
            <a:avLst/>
          </a:prstGeom>
          <a:solidFill>
            <a:srgbClr val="C9C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74786" y="2331720"/>
            <a:ext cx="128016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3658" y="2450592"/>
            <a:ext cx="457200" cy="20116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6E6A7C"/>
                </a:solidFill>
                <a:latin typeface="Segoe UI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6226" y="2743200"/>
            <a:ext cx="1097280" cy="56692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1D2B"/>
                </a:solidFill>
                <a:latin typeface="Segoe UI"/>
              </a:rPr>
              <a:t>Limpieza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7938" y="3438144"/>
            <a:ext cx="1133856" cy="34747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7C"/>
                </a:solidFill>
                <a:latin typeface="Segoe UI"/>
              </a:rPr>
              <a:t>píxeles sueltos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913467" y="3072384"/>
            <a:ext cx="164592" cy="164592"/>
          </a:xfrm>
          <a:prstGeom prst="rightArrow">
            <a:avLst/>
          </a:prstGeom>
          <a:solidFill>
            <a:srgbClr val="C9C0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134295" y="2331720"/>
            <a:ext cx="1280160" cy="1645920"/>
          </a:xfrm>
          <a:prstGeom prst="roundRect">
            <a:avLst>
              <a:gd name="adj" fmla="val 5000"/>
            </a:avLst>
          </a:prstGeom>
          <a:solidFill>
            <a:srgbClr val="1F1D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53167" y="2450592"/>
            <a:ext cx="457200" cy="20116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E7DED4"/>
                </a:solidFill>
                <a:latin typeface="Segoe UI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5735" y="2743200"/>
            <a:ext cx="1097280" cy="566928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Patrón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07447" y="3438144"/>
            <a:ext cx="1133856" cy="34747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7DED4"/>
                </a:solidFill>
                <a:latin typeface="Segoe UI"/>
              </a:rPr>
              <a:t/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434840"/>
            <a:ext cx="10637215" cy="914400"/>
          </a:xfrm>
          <a:prstGeom prst="roundRect">
            <a:avLst>
              <a:gd name="adj" fmla="val 5000"/>
            </a:avLst>
          </a:prstGeom>
          <a:solidFill>
            <a:srgbClr val="FBE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06424" y="4434840"/>
            <a:ext cx="9978847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E8456B"/>
                </a:solidFill>
                <a:latin typeface="Segoe UI"/>
              </a:rPr>
              <a:t>CIELAB</a:t>
            </a:r>
            <a:r>
              <a:rPr sz="1650" b="0" i="0">
                <a:solidFill>
                  <a:srgbClr val="1F1D2B"/>
                </a:solidFill>
                <a:latin typeface="Segoe UI"/>
              </a:rPr>
              <a:t> — distancia de color como la percibe el ojo.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Pixel Pattern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E8456B"/>
                </a:solidFill>
                <a:latin typeface="Segoe UI"/>
              </a:rPr>
              <a:t>DEMO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F1D2B"/>
                </a:solidFill>
                <a:latin typeface="Segoe UI"/>
              </a:rPr>
              <a:t>Hazlo tú, cuenta a cuenta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27632"/>
            <a:ext cx="5641848" cy="42793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1746504"/>
            <a:ext cx="5404104" cy="4041648"/>
          </a:xfrm>
          <a:prstGeom prst="roundRect">
            <a:avLst>
              <a:gd name="adj" fmla="val 2000"/>
            </a:avLst>
          </a:prstGeom>
          <a:solidFill>
            <a:srgbClr val="ECE5DC"/>
          </a:solidFill>
          <a:ln w="15875">
            <a:solidFill>
              <a:srgbClr val="C9BF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584448"/>
            <a:ext cx="5404104" cy="36576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E6A7C"/>
                </a:solidFill>
                <a:latin typeface="Segoe UI"/>
              </a:rPr>
              <a:t>Captura: hacer.png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748272" y="2478024"/>
            <a:ext cx="118872" cy="11887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59168" y="2331720"/>
            <a:ext cx="420624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F1D2B"/>
                </a:solidFill>
                <a:latin typeface="Segoe UI"/>
              </a:rPr>
              <a:t>Modo por color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48272" y="3264408"/>
            <a:ext cx="118872" cy="11887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59168" y="3118103"/>
            <a:ext cx="420624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F1D2B"/>
                </a:solidFill>
                <a:latin typeface="Segoe UI"/>
              </a:rPr>
              <a:t>Progreso cuenta a cuenta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4050791"/>
            <a:ext cx="118872" cy="11887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3904487"/>
            <a:ext cx="420624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F1D2B"/>
                </a:solidFill>
                <a:latin typeface="Segoe UI"/>
              </a:rPr>
              <a:t>Lista de materiales y nº de placas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48272" y="4837176"/>
            <a:ext cx="118872" cy="11887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59168" y="4690872"/>
            <a:ext cx="4206240" cy="47548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F1D2B"/>
                </a:solidFill>
                <a:latin typeface="Segoe UI"/>
              </a:rPr>
              <a:t>PDF imprimible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Pixel Pattern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E8456B"/>
                </a:solidFill>
                <a:latin typeface="Segoe UI"/>
              </a:rPr>
              <a:t>COMUNIDAD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F1D2B"/>
                </a:solidFill>
                <a:latin typeface="Segoe UI"/>
              </a:rPr>
              <a:t>Comparte. Descubre. Remezcla.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5193792" cy="31455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221991"/>
            <a:ext cx="4956048" cy="2907791"/>
          </a:xfrm>
          <a:prstGeom prst="roundRect">
            <a:avLst>
              <a:gd name="adj" fmla="val 2000"/>
            </a:avLst>
          </a:prstGeom>
          <a:solidFill>
            <a:srgbClr val="ECE5DC"/>
          </a:solidFill>
          <a:ln w="15875">
            <a:solidFill>
              <a:srgbClr val="C9BF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493007"/>
            <a:ext cx="4956048" cy="36576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E6A7C"/>
                </a:solidFill>
                <a:latin typeface="Segoe UI"/>
              </a:rPr>
              <a:t>Captura: feed.png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2103120"/>
            <a:ext cx="5193792" cy="31455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45936" y="2221991"/>
            <a:ext cx="4956048" cy="2907791"/>
          </a:xfrm>
          <a:prstGeom prst="roundRect">
            <a:avLst>
              <a:gd name="adj" fmla="val 2000"/>
            </a:avLst>
          </a:prstGeom>
          <a:solidFill>
            <a:srgbClr val="ECE5DC"/>
          </a:solidFill>
          <a:ln w="15875">
            <a:solidFill>
              <a:srgbClr val="C9BF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3493007"/>
            <a:ext cx="4956048" cy="36576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E6A7C"/>
                </a:solidFill>
                <a:latin typeface="Segoe UI"/>
              </a:rPr>
              <a:t>Captura: buscador.png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504688"/>
            <a:ext cx="1874519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04688"/>
            <a:ext cx="1874519" cy="40233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6A7C"/>
                </a:solidFill>
                <a:latin typeface="Segoe UI"/>
              </a:rPr>
              <a:t>Feed tipo Instagram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5504688"/>
            <a:ext cx="272491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6352" y="5504688"/>
            <a:ext cx="2724912" cy="40233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6A7C"/>
                </a:solidFill>
                <a:latin typeface="Segoe UI"/>
              </a:rPr>
              <a:t>Likes, guardados, comentarios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05856" y="5504688"/>
            <a:ext cx="170078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856" y="5504688"/>
            <a:ext cx="1700784" cy="40233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6A7C"/>
                </a:solidFill>
                <a:latin typeface="Segoe UI"/>
              </a:rPr>
              <a:t>Seguir y remix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71232" y="5504688"/>
            <a:ext cx="3794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1232" y="5504688"/>
            <a:ext cx="3794760" cy="402336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E6A7C"/>
                </a:solidFill>
                <a:latin typeface="Segoe UI"/>
              </a:rPr>
              <a:t>Buscador: perfiles, patrones y #tags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Pixel 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E8456B"/>
                </a:solidFill>
                <a:latin typeface="Segoe UI"/>
              </a:rPr>
              <a:t>TECNOLOGÍA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F1D2B"/>
                </a:solidFill>
                <a:latin typeface="Segoe UI"/>
              </a:rPr>
              <a:t>Simple por fuera, sólido por dentro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286000"/>
            <a:ext cx="3063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1560" y="2514600"/>
            <a:ext cx="105156" cy="1051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8719" y="2514600"/>
            <a:ext cx="105156" cy="105156"/>
          </a:xfrm>
          <a:prstGeom prst="rect">
            <a:avLst/>
          </a:prstGeom>
          <a:solidFill>
            <a:srgbClr val="F28C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1560" y="2651760"/>
            <a:ext cx="105156" cy="105156"/>
          </a:xfrm>
          <a:prstGeom prst="rect">
            <a:avLst/>
          </a:prstGeom>
          <a:solidFill>
            <a:srgbClr val="1F1D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19" y="2651760"/>
            <a:ext cx="105156" cy="1051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0360"/>
            <a:ext cx="2514600" cy="2560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E8456B"/>
                </a:solidFill>
                <a:latin typeface="Segoe UI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18688"/>
            <a:ext cx="2514600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F1D2B"/>
                </a:solidFill>
                <a:latin typeface="Segoe UI"/>
              </a:rPr>
              <a:t>React · TypeScript · Tailwind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2856" y="2286000"/>
            <a:ext cx="3063240" cy="2194560"/>
          </a:xfrm>
          <a:prstGeom prst="roundRect">
            <a:avLst>
              <a:gd name="adj" fmla="val 5000"/>
            </a:avLst>
          </a:prstGeom>
          <a:solidFill>
            <a:srgbClr val="FBE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37176" y="2514600"/>
            <a:ext cx="105156" cy="1051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74336" y="2514600"/>
            <a:ext cx="105156" cy="105156"/>
          </a:xfrm>
          <a:prstGeom prst="rect">
            <a:avLst/>
          </a:prstGeom>
          <a:solidFill>
            <a:srgbClr val="1F1D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37176" y="2651760"/>
            <a:ext cx="105156" cy="105156"/>
          </a:xfrm>
          <a:prstGeom prst="rect">
            <a:avLst/>
          </a:prstGeom>
          <a:solidFill>
            <a:srgbClr val="F28C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74336" y="2651760"/>
            <a:ext cx="105156" cy="105156"/>
          </a:xfrm>
          <a:prstGeom prst="rect">
            <a:avLst/>
          </a:prstGeom>
          <a:solidFill>
            <a:srgbClr val="CB31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37176" y="2880360"/>
            <a:ext cx="2514600" cy="2560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E8456B"/>
                </a:solidFill>
                <a:latin typeface="Segoe UI"/>
              </a:rPr>
              <a:t>API + BD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7176" y="3218688"/>
            <a:ext cx="2514600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F1D2B"/>
                </a:solidFill>
                <a:latin typeface="Segoe UI"/>
              </a:rPr>
              <a:t>FastAPI · SQLite · JWT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48472" y="2286000"/>
            <a:ext cx="3063240" cy="2194560"/>
          </a:xfrm>
          <a:prstGeom prst="roundRect">
            <a:avLst>
              <a:gd name="adj" fmla="val 5000"/>
            </a:avLst>
          </a:prstGeom>
          <a:solidFill>
            <a:srgbClr val="1F1D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22792" y="2514600"/>
            <a:ext cx="105156" cy="1051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2514600"/>
            <a:ext cx="105156" cy="105156"/>
          </a:xfrm>
          <a:prstGeom prst="rect">
            <a:avLst/>
          </a:prstGeom>
          <a:solidFill>
            <a:srgbClr val="F28C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22792" y="2651760"/>
            <a:ext cx="105156" cy="105156"/>
          </a:xfrm>
          <a:prstGeom prst="rect">
            <a:avLst/>
          </a:prstGeom>
          <a:solidFill>
            <a:srgbClr val="F28C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59952" y="2651760"/>
            <a:ext cx="105156" cy="105156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22792" y="2880360"/>
            <a:ext cx="2514600" cy="256032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F28CA4"/>
                </a:solidFill>
                <a:latin typeface="Segoe UI"/>
              </a:rPr>
              <a:t>MOTOR DE PATRONES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22792" y="3218688"/>
            <a:ext cx="2514600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NumPy · OpenCV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scikit-learn · ReportLab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941063" y="3246120"/>
            <a:ext cx="521207" cy="274320"/>
          </a:xfrm>
          <a:prstGeom prst="rightArrow">
            <a:avLst/>
          </a:prstGeom>
          <a:solidFill>
            <a:srgbClr val="E9BE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7726679" y="3246120"/>
            <a:ext cx="521207" cy="274320"/>
          </a:xfrm>
          <a:prstGeom prst="rightArrow">
            <a:avLst/>
          </a:prstGeom>
          <a:solidFill>
            <a:srgbClr val="E9BE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937760"/>
            <a:ext cx="10637215" cy="3200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E6A7C"/>
                </a:solidFill>
                <a:latin typeface="Segoe UI"/>
              </a:rPr>
              <a:t>Un contrato de datos común: PatternData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Pixel Pattern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E8456B"/>
                </a:solidFill>
                <a:latin typeface="Segoe UI"/>
              </a:rPr>
              <a:t>CÓMO TRABAJAMOS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F1D2B"/>
                </a:solidFill>
                <a:latin typeface="Segoe UI"/>
              </a:rPr>
              <a:t>Cinco personas, un solo contrato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17320" y="2688336"/>
            <a:ext cx="9354311" cy="10972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8136" y="2359152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359152"/>
            <a:ext cx="658368" cy="65836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54680"/>
            <a:ext cx="15544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D2B"/>
                </a:solidFill>
                <a:latin typeface="Segoe UI"/>
              </a:rPr>
              <a:t>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359152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2359152"/>
            <a:ext cx="658368" cy="65836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3154680"/>
            <a:ext cx="15544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D2B"/>
                </a:solidFill>
                <a:latin typeface="Segoe UI"/>
              </a:rPr>
              <a:t>Motor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2359152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2359152"/>
            <a:ext cx="658368" cy="65836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3154680"/>
            <a:ext cx="15544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D2B"/>
                </a:solidFill>
                <a:latin typeface="Segoe UI"/>
              </a:rPr>
              <a:t>Social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4" y="2359152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1584" y="2359152"/>
            <a:ext cx="658368" cy="65836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3528" y="3154680"/>
            <a:ext cx="15544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D2B"/>
                </a:solidFill>
                <a:latin typeface="Segoe UI"/>
              </a:rPr>
              <a:t>Editor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42448" y="2359152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42448" y="2359152"/>
            <a:ext cx="658368" cy="658368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94392" y="3154680"/>
            <a:ext cx="155448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1D2B"/>
                </a:solidFill>
                <a:latin typeface="Segoe UI"/>
              </a:rPr>
              <a:t>Social 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069080"/>
            <a:ext cx="3401568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33271" y="4334256"/>
            <a:ext cx="91440" cy="91440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2143" y="4334256"/>
            <a:ext cx="91440" cy="91440"/>
          </a:xfrm>
          <a:prstGeom prst="rect">
            <a:avLst/>
          </a:prstGeom>
          <a:solidFill>
            <a:srgbClr val="F28C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33271" y="4453128"/>
            <a:ext cx="91440" cy="91440"/>
          </a:xfrm>
          <a:prstGeom prst="rect">
            <a:avLst/>
          </a:prstGeom>
          <a:solidFill>
            <a:srgbClr val="1F1D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2143" y="4453128"/>
            <a:ext cx="91440" cy="91440"/>
          </a:xfrm>
          <a:prstGeom prst="rect">
            <a:avLst/>
          </a:prstGeom>
          <a:solidFill>
            <a:srgbClr val="CB31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3271" y="4727448"/>
            <a:ext cx="2889504" cy="6400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1D2B"/>
                </a:solidFill>
                <a:latin typeface="Segoe UI"/>
              </a:rPr>
              <a:t>Contrato de API desde el minuto 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98264" y="4069080"/>
            <a:ext cx="3401568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54296" y="4334256"/>
            <a:ext cx="91440" cy="91440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73168" y="4334256"/>
            <a:ext cx="91440" cy="91440"/>
          </a:xfrm>
          <a:prstGeom prst="rect">
            <a:avLst/>
          </a:prstGeom>
          <a:solidFill>
            <a:srgbClr val="F28C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54296" y="4453128"/>
            <a:ext cx="91440" cy="91440"/>
          </a:xfrm>
          <a:prstGeom prst="rect">
            <a:avLst/>
          </a:prstGeom>
          <a:solidFill>
            <a:srgbClr val="1F1D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73168" y="4453128"/>
            <a:ext cx="91440" cy="91440"/>
          </a:xfrm>
          <a:prstGeom prst="rect">
            <a:avLst/>
          </a:prstGeom>
          <a:solidFill>
            <a:srgbClr val="CB31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54296" y="4727448"/>
            <a:ext cx="2889504" cy="6400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1D2B"/>
                </a:solidFill>
                <a:latin typeface="Segoe UI"/>
              </a:rPr>
              <a:t>Un dueño por archivo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19288" y="4069080"/>
            <a:ext cx="3401568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75319" y="4334256"/>
            <a:ext cx="91440" cy="91440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94192" y="4334256"/>
            <a:ext cx="91440" cy="91440"/>
          </a:xfrm>
          <a:prstGeom prst="rect">
            <a:avLst/>
          </a:prstGeom>
          <a:solidFill>
            <a:srgbClr val="F28C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75319" y="4453128"/>
            <a:ext cx="91440" cy="91440"/>
          </a:xfrm>
          <a:prstGeom prst="rect">
            <a:avLst/>
          </a:prstGeom>
          <a:solidFill>
            <a:srgbClr val="1F1D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94192" y="4453128"/>
            <a:ext cx="91440" cy="91440"/>
          </a:xfrm>
          <a:prstGeom prst="rect">
            <a:avLst/>
          </a:prstGeom>
          <a:solidFill>
            <a:srgbClr val="CB315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19" y="4727448"/>
            <a:ext cx="2889504" cy="64008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1D2B"/>
                </a:solidFill>
                <a:latin typeface="Segoe UI"/>
              </a:rPr>
              <a:t>Agentes de IA (opencode) en paralelo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Pixel Pattern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E8456B"/>
                </a:solidFill>
                <a:latin typeface="Segoe UI"/>
              </a:rP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768096"/>
            <a:ext cx="10637215" cy="10515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1F1D2B"/>
                </a:solidFill>
                <a:latin typeface="Segoe UI"/>
              </a:rPr>
              <a:t>Lo que viene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566928" cy="50292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286000"/>
            <a:ext cx="246888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542032"/>
            <a:ext cx="54864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E8456B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17520"/>
            <a:ext cx="1920240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1F1D2B"/>
                </a:solidFill>
                <a:latin typeface="Segoe UI"/>
              </a:rPr>
              <a:t>Más marcas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224528"/>
            <a:ext cx="1920240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43984"/>
            <a:ext cx="1920240" cy="5943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6A7C"/>
                </a:solidFill>
                <a:latin typeface="Segoe UI"/>
              </a:rPr>
              <a:t>Cuentas e hilos de más fabricantes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286000"/>
            <a:ext cx="246888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2542032"/>
            <a:ext cx="54864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E8456B"/>
                </a:solidFill>
                <a:latin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3017520"/>
            <a:ext cx="1920240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1F1D2B"/>
                </a:solidFill>
                <a:latin typeface="Segoe UI"/>
              </a:rPr>
              <a:t>App móvil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76472" y="4224528"/>
            <a:ext cx="1920240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6472" y="4443984"/>
            <a:ext cx="1920240" cy="5943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6A7C"/>
                </a:solidFill>
                <a:latin typeface="Segoe UI"/>
              </a:rPr>
              <a:t>Cámara integrada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286000"/>
            <a:ext cx="246888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2542032"/>
            <a:ext cx="54864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E8456B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3017520"/>
            <a:ext cx="1920240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1F1D2B"/>
                </a:solidFill>
                <a:latin typeface="Segoe UI"/>
              </a:rPr>
              <a:t>Patrones 3D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1384" y="4224528"/>
            <a:ext cx="1920240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1384" y="4443984"/>
            <a:ext cx="1920240" cy="5943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6A7C"/>
                </a:solidFill>
                <a:latin typeface="Segoe UI"/>
              </a:rPr>
              <a:t>HAMA en relieve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1976" y="2286000"/>
            <a:ext cx="246888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7DED4"/>
            </a:solidFill>
          </a:ln>
          <a:effectLst>
            <a:outerShdw blurRad="152400" dist="30000" dir="5400000" algn="ctr" rotWithShape="0">
              <a:srgbClr val="1F1D2B">
                <a:alpha val="9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6296" y="2542032"/>
            <a:ext cx="54864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E8456B"/>
                </a:solidFill>
                <a:latin typeface="Sego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6296" y="3017520"/>
            <a:ext cx="1920240" cy="9144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1F1D2B"/>
                </a:solidFill>
                <a:latin typeface="Segoe UI"/>
              </a:rPr>
              <a:t>Tienda de kits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26296" y="4224528"/>
            <a:ext cx="1920240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6296" y="4443984"/>
            <a:ext cx="1920240" cy="5943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6A7C"/>
                </a:solidFill>
                <a:latin typeface="Segoe UI"/>
              </a:rPr>
              <a:t>Materiales exactos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6327648"/>
            <a:ext cx="10637215" cy="8229"/>
          </a:xfrm>
          <a:prstGeom prst="rect">
            <a:avLst/>
          </a:prstGeom>
          <a:solidFill>
            <a:srgbClr val="E7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6419088"/>
            <a:ext cx="4572000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Pixel Pattern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90">
                <a:solidFill>
                  <a:srgbClr val="E8456B"/>
                </a:solidFill>
                <a:latin typeface="Segoe UI"/>
              </a:rPr>
              <a:t>EL PRÓXIMO PATRÓN ES TUYO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6949440" cy="73152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1F1D2B"/>
                </a:solidFill>
                <a:latin typeface="Segoe UI"/>
              </a:rPr>
              <a:t>Pixel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93392"/>
            <a:ext cx="6949440" cy="10058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E8456B"/>
                </a:solidFill>
                <a:latin typeface="Segoe UI"/>
              </a:rPr>
              <a:t>¡Gracias!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3364992"/>
            <a:ext cx="1051560" cy="6400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3675887"/>
            <a:ext cx="6400800" cy="36576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F1D2B"/>
                </a:solidFill>
                <a:latin typeface="Segoe UI"/>
              </a:rPr>
              <a:t>Demo y código en el QR.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4114800"/>
            <a:ext cx="6400800" cy="3200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E6A7C"/>
                </a:solidFill>
                <a:latin typeface="Segoe UI"/>
              </a:rPr>
              <a:t>[enlace a la demo]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806440"/>
            <a:ext cx="7315200" cy="32004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E6A7C"/>
                </a:solidFill>
                <a:latin typeface="Segoe UI"/>
              </a:rPr>
              <a:t>[Nombre del equipo] · [Nombre del hackathon]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1481328"/>
            <a:ext cx="306324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8456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1481328"/>
            <a:ext cx="3063240" cy="3063240"/>
          </a:xfrm>
          <a:prstGeom prst="rect">
            <a:avLst/>
          </a:prstGeom>
          <a:noFill/>
        </p:spPr>
        <p:txBody>
          <a:bodyPr wrap="square" anchor="ctr" lIns="0" tIns="0" rIns="0" b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E6A7C"/>
                </a:solidFill>
                <a:latin typeface="Segoe UI"/>
              </a:rPr>
              <a:t>[QR / enlace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E6A7C"/>
                </a:solidFill>
                <a:latin typeface="Segoe UI"/>
              </a:rPr>
              <a:t>a la demo]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66276" y="4956048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44584" y="4956048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57816" y="4956048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36124" y="4956048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87968" y="5134356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66276" y="5134356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44584" y="5134356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22892" y="5134356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79508" y="5134356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57816" y="5134356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36124" y="5134356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314432" y="5134356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87968" y="5312664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276" y="5312664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44584" y="5312664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22892" y="5312664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5312664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79508" y="5312664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57816" y="5312664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136124" y="5312664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314432" y="5312664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87968" y="5490972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66276" y="5490972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44584" y="5490972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22892" y="5490972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5490972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79508" y="5490972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957816" y="5490972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136124" y="5490972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314432" y="5490972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66276" y="5669280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244584" y="5669280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22892" y="5669280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01200" y="5669280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779508" y="5669280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957816" y="5669280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136124" y="5669280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44584" y="5847588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422892" y="5847588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601200" y="5847588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779508" y="5847588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957816" y="5847588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22892" y="6025896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01200" y="6025896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779508" y="6025896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601200" y="6204204"/>
            <a:ext cx="155448" cy="155448"/>
          </a:xfrm>
          <a:prstGeom prst="rect">
            <a:avLst/>
          </a:prstGeom>
          <a:solidFill>
            <a:srgbClr val="E845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01200" y="6419088"/>
            <a:ext cx="1810512" cy="228600"/>
          </a:xfrm>
          <a:prstGeom prst="rect">
            <a:avLst/>
          </a:prstGeom>
          <a:noFill/>
        </p:spPr>
        <p:txBody>
          <a:bodyPr wrap="square" anchor="t" lIns="0" tIns="0" r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6A7C"/>
                </a:solidFill>
                <a:latin typeface="Segoe U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Pixel Pattern — Pitch</dc:title>
  <dc:subject>Crea, comparte y haz patrones de HAMA y punto de cruz</dc:subject>
  <dc:creator>Pixel Pattern</dc:creator>
  <cp:keywords>HAMA, punto de cruz, patrones, hackathon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