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s — Buenas, somos [Nombre del equipo] y esto es Pixel Pattern. En cuatro minutos os enseñamos cómo convertir una foto en un patrón real de HAMA o punto de cruz, cómo hacerlo con progreso y cómo compartirlo y remezclarlo con la comunidad. Vamos al lío.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25 s — Si alguna vez habéis hecho un patrón desde una foto, conocéis el dolor: cuentas cuadraditos a mano y buscas un color que se parezca... y resulta que no existe en Hama ni en DMC. Y lo que hay en Pinterest o en blogs está en una imagen: sin lista de materiales, sin progreso y sin saber cuántas placas necesitas. Un patrón de 128 × 128 son 16.384 celdas. El patrón es bonito; hacerlo es otra historia.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20 s — Pixel Pattern junta las tres piezas que faltaban. Conviertes una foto o un dibujo en un patrón con colores reales de fabricante; lo editas cuenta a cuenta, con deshacer y simetría, y te llevas la lista de materiales y el PDF; y lo publicas en una comunidad con feed, perfiles, búsqueda y remix. Crear, hacer y compartir, por fin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45 s — Aquí está el corazón del producto. Subes una foto y, con un par de ajustes, la simplificamos a un dibujo: eliges ancho, hasta 128 celdas, y entre 2 y 64 colores. Después la pasamos a la paleta real de Hama o DMC, así que cada color se puede comprar. En una foto de demo tarda entre 0,3 y 0,6 segundos a 128 píxeles. Y si algo no te convence, cambias las cuentas una a una en el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30 s — Por dentro es una cadena de pasos. Suavizamos con OpenCV (bilateral o mean-shift) para quitar ruido; reducimos a la rejilla; agrupamos los colores con k-means en espacio CIELAB, no en RGB. ¿Por qué? Porque CIELAB mide la distancia de color como la percibe el ojo: dos rojos casi iguales quedan cerca, y no nos llevamos un azul raro solo porque lo digan los números. Después emparejamos con la paleta real: 60 colores Hama y 190 DMC. Limpiamos ruido y celdas aisladas, añadimos contorno Canny si hace falta y sale un PatternData listo para editar.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45 s — Una vez publicado, cualquiera puede abrirlo en modo hacer. Se sigue color por color, que es como se trabaja de verdad: pones todas las cuentas de un color y no vas cambiando de bote. Marcas celdas o una fila entera, ves el progreso y la lista de materiales con cuentas y placas de 29 × 29. El progreso se guarda en el navegador: si cierras, vuelves donde lo dejaste. Y al terminar, exportas el PDF A4 con la carta y la leyenda.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35 s — La parte social es intencionadamente familiar: feed con «Explorar» y «Siguiendo», likes, guardados, comentarios y perfiles a los que seguir. Cualquier patrón se abre en modo hacer o se remezcla con el botón Remix. Y el buscador encuentra perfiles, patrones y #tags sin depender de los acentos: si buscas «corazon» aparece «Corazón pixelado», y «#gato» hace búsqueda exacta de tag. La comunidad es lo que hace crecer el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20 s — Técnicamente no hay magia: React 18 y TypeScript en el frontend, FastAPI y SQLite detrás, y un motor en Python con NumPy, OpenCV, scikit-learn y ReportLab para el PDF. Todo habla por una API REST con el mismo contrato, PatternData. Eso nos permitió construir en paralelo sin pisarnos y tener 76 tests en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20 s — Y aquí está la parte de la que estamos más orgullosos: cinco personas, cinco ramas y un contrato de API cerrado desde el minuto cero. Cada persona era dueña de sus archivos, así que los merges salieron limpios. En total, 10.905 líneas propias y 834 compartidas, con 76 tests en verde. Trabajamos con agentes de IA de opencode: nos repartimos el producto, no los conflictos de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10 s — ¿Y después? Más marcas y paletas, una app móvil con cámara, patrones en 3D para HAMA y, a más largo plazo, una tienda de kits con los materiales exactos de cada patrón. Cerrar el círculo entre la idea y la manualidad.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s — Esto es Pixel Pattern: una forma más rápida de pasar de una foto a algo que puedes hacer con las manos, y una comunidad para compartirlo. El código, la demo y los 76 tests están en el QR. Gracias, y ahora... ¡a hacer patrones!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HACKATHON · [NOMBRE DEL HACKATHON]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70432"/>
            <a:ext cx="6583680" cy="22402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i="0">
                <a:solidFill>
                  <a:srgbClr val="3D3A4F"/>
                </a:solidFill>
                <a:latin typeface="Segoe UI"/>
              </a:rPr>
              <a:t>Pixel</a:t>
            </a:r>
          </a:p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i="0">
                <a:solidFill>
                  <a:srgbClr val="3D3A4F"/>
                </a:solidFill>
                <a:latin typeface="Segoe UI"/>
              </a:rPr>
              <a:t>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593592"/>
            <a:ext cx="1051560" cy="6400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931920"/>
            <a:ext cx="6035040" cy="10058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A8699"/>
                </a:solidFill>
                <a:latin typeface="Segoe UI"/>
              </a:rPr>
              <a:t>Crea, comparte y haz patrones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A8699"/>
                </a:solidFill>
                <a:latin typeface="Segoe UI"/>
              </a:rPr>
              <a:t>de HAMA y punto de cruz</a:t>
            </a:r>
          </a:p>
        </p:txBody>
      </p:sp>
      <p:sp>
        <p:nvSpPr>
          <p:cNvPr id="6" name="Rectangle 5"/>
          <p:cNvSpPr/>
          <p:nvPr/>
        </p:nvSpPr>
        <p:spPr>
          <a:xfrm>
            <a:off x="8526780" y="144475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97112" y="144475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78440" y="144475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48772" y="144475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56448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26780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97112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67444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08108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378440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748772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119104" y="181508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26780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97112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67444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37776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08108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378440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48772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119104" y="218541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6448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26780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97112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67444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37776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08108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78440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48772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19104" y="2555748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6780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97112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67444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37776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08108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78440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748772" y="2926080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97112" y="329641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67444" y="329641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37776" y="329641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008108" y="329641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296412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67444" y="366674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37776" y="366674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08108" y="3666744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37776" y="4037076"/>
            <a:ext cx="333756" cy="3337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736592"/>
            <a:ext cx="333756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20">
                <a:solidFill>
                  <a:srgbClr val="8A8699"/>
                </a:solidFill>
                <a:latin typeface="Segoe UI"/>
              </a:rPr>
              <a:t>1 píxel = 1 cuenta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59552"/>
            <a:ext cx="59436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D3A4F"/>
                </a:solidFill>
                <a:latin typeface="Segoe UI"/>
              </a:rPr>
              <a:t>[Nombre del hackathon]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52160"/>
            <a:ext cx="59436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8699"/>
                </a:solidFill>
                <a:latin typeface="Segoe UI"/>
              </a:rPr>
              <a:t>[Nombre del equipo]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Crear un patrón desde una foto es tedioso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50008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20">
                <a:solidFill>
                  <a:srgbClr val="C9587E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7" y="2313432"/>
            <a:ext cx="5394960" cy="5029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Contar cuentas a mano</a:t>
            </a:r>
          </a:p>
        </p:txBody>
      </p:sp>
      <p:sp>
        <p:nvSpPr>
          <p:cNvPr id="7" name="Rectangle 6"/>
          <p:cNvSpPr/>
          <p:nvPr/>
        </p:nvSpPr>
        <p:spPr>
          <a:xfrm>
            <a:off x="1435607" y="2898648"/>
            <a:ext cx="4709160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91256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20">
                <a:solidFill>
                  <a:srgbClr val="C9587E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3154679"/>
            <a:ext cx="5394960" cy="5029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Colores que no existen en tu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35607" y="3739896"/>
            <a:ext cx="4709160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32503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20">
                <a:solidFill>
                  <a:srgbClr val="C9587E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3995928"/>
            <a:ext cx="5394960" cy="5029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Patrones en imágenes, sin progreso ni materiales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79792" y="2240280"/>
            <a:ext cx="39319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5" y="2514600"/>
            <a:ext cx="3291839" cy="9601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C9587E"/>
                </a:solidFill>
                <a:latin typeface="Segoe UI"/>
              </a:rPr>
              <a:t>16.384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5" y="3474720"/>
            <a:ext cx="3291839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8699"/>
                </a:solidFill>
                <a:latin typeface="Segoe UI"/>
              </a:rPr>
              <a:t>celdas en 128 × 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5" y="3767328"/>
            <a:ext cx="3291839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699"/>
                </a:solidFill>
                <a:latin typeface="Segoe UI"/>
              </a:rPr>
              <a:t>hasta 64 colores reales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27264" y="408736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408736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408736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75904" y="408736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58784" y="408736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41664" y="408736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24544" y="408736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07424" y="408736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2726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3024" y="427024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7590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5878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4166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2454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07424" y="427024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27264" y="445312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10144" y="445312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93024" y="445312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75904" y="445312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445312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41664" y="445312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24544" y="445312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07424" y="445312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2726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1014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302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375904" y="463600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5878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4166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2454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07424" y="463600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27264" y="481888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93024" y="481888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75904" y="481888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558784" y="4818888"/>
            <a:ext cx="141732" cy="14173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741664" y="481888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924544" y="481888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07424" y="4818888"/>
            <a:ext cx="141732" cy="14173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Una app, todo el ciclo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2304288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403" y="2304288"/>
            <a:ext cx="118872" cy="118872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8" y="2455164"/>
            <a:ext cx="118872" cy="118872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6403" y="2455164"/>
            <a:ext cx="118872" cy="118872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20116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CREA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578608"/>
            <a:ext cx="4206240" cy="7132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Foto o dibujo → patrón con paleta real Hama o DMC.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3419856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6403" y="3419856"/>
            <a:ext cx="118872" cy="118872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" y="3570732"/>
            <a:ext cx="118872" cy="118872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3" y="3570732"/>
            <a:ext cx="118872" cy="118872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401568"/>
            <a:ext cx="20116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HAZ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694176"/>
            <a:ext cx="4206240" cy="7132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Editor con deshacer y simetría, progreso y materiales.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" y="4535423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" y="4535423"/>
            <a:ext cx="118872" cy="118872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" y="4686299"/>
            <a:ext cx="118872" cy="118872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403" y="4686299"/>
            <a:ext cx="118872" cy="118872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517136"/>
            <a:ext cx="20116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COMPARTE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809744"/>
            <a:ext cx="4206240" cy="7132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Feed, búsqueda sin acentos, #tags y remix.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011680"/>
            <a:ext cx="5029200" cy="3611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73952" y="2130552"/>
            <a:ext cx="4791456" cy="3374136"/>
          </a:xfrm>
          <a:prstGeom prst="roundRect">
            <a:avLst>
              <a:gd name="adj" fmla="val 2000"/>
            </a:avLst>
          </a:prstGeom>
          <a:solidFill>
            <a:srgbClr val="FDF1EA"/>
          </a:solidFill>
          <a:ln w="15875">
            <a:solidFill>
              <a:srgbClr val="E4DAF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634740"/>
            <a:ext cx="4791456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8699"/>
                </a:solidFill>
                <a:latin typeface="Segoe UI"/>
              </a:rPr>
              <a:t>Captura: crear.png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DEMO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De foto a patrón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5217" y="2523744"/>
            <a:ext cx="10972" cy="2615184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587E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286000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Sube tu foto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587E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3154680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Ancho 4–128 y 2–64 colores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0690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79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587E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4023359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Simplifica a dibujo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3775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37759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587E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4892040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Retoca cuenta a cuenta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548640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486400"/>
            <a:ext cx="3749039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587E"/>
                </a:solidFill>
                <a:latin typeface="Segoe UI"/>
              </a:rPr>
              <a:t>OpenCV + k-means CIELAB · 0,3–0,6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88152" y="1389888"/>
            <a:ext cx="5641848" cy="45537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07024" y="1508760"/>
            <a:ext cx="5404104" cy="4315968"/>
          </a:xfrm>
          <a:prstGeom prst="roundRect">
            <a:avLst>
              <a:gd name="adj" fmla="val 2000"/>
            </a:avLst>
          </a:prstGeom>
          <a:solidFill>
            <a:srgbClr val="FDF1EA"/>
          </a:solidFill>
          <a:ln w="15875">
            <a:solidFill>
              <a:srgbClr val="E4DAF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07024" y="3483863"/>
            <a:ext cx="5404104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8699"/>
                </a:solidFill>
                <a:latin typeface="Segoe UI"/>
              </a:rPr>
              <a:t>Captura: foto-a-patron.png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CÓMO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Del píxel al patrón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F1E7E2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Foto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1E7E2"/>
                </a:solidFill>
                <a:latin typeface="Segoe UI"/>
              </a:rPr>
              <a:t/>
            </a:r>
          </a:p>
        </p:txBody>
      </p:sp>
      <p:sp>
        <p:nvSpPr>
          <p:cNvPr id="9" name="Right Arrow 8"/>
          <p:cNvSpPr/>
          <p:nvPr/>
        </p:nvSpPr>
        <p:spPr>
          <a:xfrm>
            <a:off x="2115921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6749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5621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8A8699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8189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3A4F"/>
                </a:solidFill>
                <a:latin typeface="Segoe UI"/>
              </a:rPr>
              <a:t>Suavizado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9901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8699"/>
                </a:solidFill>
                <a:latin typeface="Segoe UI"/>
              </a:rPr>
              <a:t>OpenCV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75430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96258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5130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8A8699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7698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3A4F"/>
                </a:solidFill>
                <a:latin typeface="Segoe UI"/>
              </a:rPr>
              <a:t>Rejilla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9410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8699"/>
                </a:solidFill>
                <a:latin typeface="Segoe UI"/>
              </a:rPr>
              <a:t>área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34940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55767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4639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7207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k-means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8919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CIELAB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794449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15276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4148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8A8699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6716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3A4F"/>
                </a:solidFill>
                <a:latin typeface="Segoe UI"/>
              </a:rPr>
              <a:t>Paleta real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8428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8699"/>
                </a:solidFill>
                <a:latin typeface="Segoe UI"/>
              </a:rPr>
              <a:t>Hama 60 · DMC 190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353958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74786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3658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8A8699"/>
                </a:solidFill>
                <a:latin typeface="Segoe U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6226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3A4F"/>
                </a:solidFill>
                <a:latin typeface="Segoe UI"/>
              </a:rPr>
              <a:t>Limpieza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7938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8699"/>
                </a:solidFill>
                <a:latin typeface="Segoe UI"/>
              </a:rPr>
              <a:t>ruido y aislados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913467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34295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3167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F1E7E2"/>
                </a:solidFill>
                <a:latin typeface="Segoe U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5735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Patrón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07447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1E7E2"/>
                </a:solidFill>
                <a:latin typeface="Segoe UI"/>
              </a:rPr>
              <a:t>PatternData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434840"/>
            <a:ext cx="10637215" cy="914400"/>
          </a:xfrm>
          <a:prstGeom prst="roundRect">
            <a:avLst>
              <a:gd name="adj" fmla="val 5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6424" y="4434840"/>
            <a:ext cx="64922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C9587E"/>
                </a:solidFill>
                <a:latin typeface="Segoe UI"/>
              </a:rPr>
              <a:t>CIELAB</a:t>
            </a:r>
            <a:r>
              <a:rPr sz="1650" b="0" i="0">
                <a:solidFill>
                  <a:srgbClr val="3D3A4F"/>
                </a:solidFill>
                <a:latin typeface="Segoe UI"/>
              </a:rPr>
              <a:t> — distancia de color como la percibe el ojo.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4434840"/>
            <a:ext cx="3520440" cy="91440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A8699"/>
                </a:solidFill>
                <a:latin typeface="Segoe UI"/>
              </a:rPr>
              <a:t>60 colores Hama · 190 DMC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A8699"/>
                </a:solidFill>
                <a:latin typeface="Segoe UI"/>
              </a:rPr>
              <a:t>Contorno Canny · fondo ΔE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DEMO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Hazlo tú, cuenta a cuenta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27632"/>
            <a:ext cx="5641848" cy="42793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1746504"/>
            <a:ext cx="5404104" cy="4041648"/>
          </a:xfrm>
          <a:prstGeom prst="roundRect">
            <a:avLst>
              <a:gd name="adj" fmla="val 2000"/>
            </a:avLst>
          </a:prstGeom>
          <a:solidFill>
            <a:srgbClr val="FDF1EA"/>
          </a:solidFill>
          <a:ln w="15875">
            <a:solidFill>
              <a:srgbClr val="E4DAF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584448"/>
            <a:ext cx="5404104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8699"/>
                </a:solidFill>
                <a:latin typeface="Segoe UI"/>
              </a:rPr>
              <a:t>Captura: hacer.png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48272" y="2478024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168" y="2331720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Progreso persistente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8272" y="3264408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3118103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Modo por color y por fila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4050791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3904487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Cuentas y placas 29×29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8272" y="4837176"/>
            <a:ext cx="118872" cy="11887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4690872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D3A4F"/>
                </a:solidFill>
                <a:latin typeface="Segoe UI"/>
              </a:rPr>
              <a:t>PDF A4 imprimible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COMUNIDAD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Comparte. Descubre. Remezcla.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19379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221991"/>
            <a:ext cx="4956048" cy="2907791"/>
          </a:xfrm>
          <a:prstGeom prst="roundRect">
            <a:avLst>
              <a:gd name="adj" fmla="val 2000"/>
            </a:avLst>
          </a:prstGeom>
          <a:solidFill>
            <a:srgbClr val="FDF1EA"/>
          </a:solidFill>
          <a:ln w="15875">
            <a:solidFill>
              <a:srgbClr val="E4DAF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493007"/>
            <a:ext cx="4956048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8699"/>
                </a:solidFill>
                <a:latin typeface="Segoe UI"/>
              </a:rPr>
              <a:t>Captura: feed.png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2103120"/>
            <a:ext cx="519379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5936" y="2221991"/>
            <a:ext cx="4956048" cy="2907791"/>
          </a:xfrm>
          <a:prstGeom prst="roundRect">
            <a:avLst>
              <a:gd name="adj" fmla="val 2000"/>
            </a:avLst>
          </a:prstGeom>
          <a:solidFill>
            <a:srgbClr val="FDF1EA"/>
          </a:solidFill>
          <a:ln w="15875">
            <a:solidFill>
              <a:srgbClr val="E4DAF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3493007"/>
            <a:ext cx="4956048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8699"/>
                </a:solidFill>
                <a:latin typeface="Segoe UI"/>
              </a:rPr>
              <a:t>Captura: buscador.png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504688"/>
            <a:ext cx="2240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04688"/>
            <a:ext cx="2240280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699"/>
                </a:solidFill>
                <a:latin typeface="Segoe UI"/>
              </a:rPr>
              <a:t>Feed Explorar / Siguiendo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82112" y="5504688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2" y="5504688"/>
            <a:ext cx="2788920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699"/>
                </a:solidFill>
                <a:latin typeface="Segoe UI"/>
              </a:rPr>
              <a:t>Likes, guardados y comentarios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5504688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5504688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699"/>
                </a:solidFill>
                <a:latin typeface="Segoe UI"/>
              </a:rPr>
              <a:t>Seguir y remix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0416" y="5504688"/>
            <a:ext cx="3246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416" y="5504688"/>
            <a:ext cx="3246120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699"/>
                </a:solidFill>
                <a:latin typeface="Segoe UI"/>
              </a:rPr>
              <a:t>Buscador sin acentos + #tags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TECNOLOGÍA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Simple por fuera, sólido por dentro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3063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1560" y="2514600"/>
            <a:ext cx="105156" cy="1051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19" y="2514600"/>
            <a:ext cx="105156" cy="105156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2651760"/>
            <a:ext cx="105156" cy="105156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19" y="2651760"/>
            <a:ext cx="105156" cy="1051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2514600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C9587E"/>
                </a:solidFill>
                <a:latin typeface="Segoe UI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18688"/>
            <a:ext cx="251460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D3A4F"/>
                </a:solidFill>
                <a:latin typeface="Segoe UI"/>
              </a:rPr>
              <a:t>React 18 · TypeScript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D3A4F"/>
                </a:solidFill>
                <a:latin typeface="Segoe UI"/>
              </a:rPr>
              <a:t>Tailwind · Vite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6" y="2286000"/>
            <a:ext cx="3063240" cy="2194560"/>
          </a:xfrm>
          <a:prstGeom prst="roundRect">
            <a:avLst>
              <a:gd name="adj" fmla="val 5000"/>
            </a:avLst>
          </a:prstGeom>
          <a:solidFill>
            <a:srgbClr val="FC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37176" y="2514600"/>
            <a:ext cx="105156" cy="1051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74336" y="2514600"/>
            <a:ext cx="105156" cy="105156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37176" y="2651760"/>
            <a:ext cx="105156" cy="105156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74336" y="2651760"/>
            <a:ext cx="105156" cy="105156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37176" y="2880360"/>
            <a:ext cx="2514600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C9587E"/>
                </a:solidFill>
                <a:latin typeface="Segoe UI"/>
              </a:rPr>
              <a:t>API + BD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3218688"/>
            <a:ext cx="251460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D3A4F"/>
                </a:solidFill>
                <a:latin typeface="Segoe UI"/>
              </a:rPr>
              <a:t>FastAPI · SQLite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D3A4F"/>
                </a:solidFill>
                <a:latin typeface="Segoe UI"/>
              </a:rPr>
              <a:t>JWT · 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8472" y="2286000"/>
            <a:ext cx="3063240" cy="2194560"/>
          </a:xfrm>
          <a:prstGeom prst="roundRect">
            <a:avLst>
              <a:gd name="adj" fmla="val 5000"/>
            </a:avLst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22792" y="2514600"/>
            <a:ext cx="105156" cy="1051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2514600"/>
            <a:ext cx="105156" cy="105156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22792" y="2651760"/>
            <a:ext cx="105156" cy="105156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59952" y="2651760"/>
            <a:ext cx="105156" cy="105156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22792" y="2880360"/>
            <a:ext cx="2514600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F3B7C8"/>
                </a:solidFill>
                <a:latin typeface="Segoe UI"/>
              </a:rPr>
              <a:t>MOTOR DE PATRONES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2792" y="3218688"/>
            <a:ext cx="251460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OpenCV · NumPy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scikit-learn · ReportLab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941063" y="3246120"/>
            <a:ext cx="521207" cy="274320"/>
          </a:xfrm>
          <a:prstGeom prst="rightArrow">
            <a:avLst/>
          </a:prstGeom>
          <a:solidFill>
            <a:srgbClr val="E9BE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7726679" y="3246120"/>
            <a:ext cx="521207" cy="274320"/>
          </a:xfrm>
          <a:prstGeom prst="rightArrow">
            <a:avLst/>
          </a:prstGeom>
          <a:solidFill>
            <a:srgbClr val="E9BE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10637215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8699"/>
                </a:solidFill>
                <a:latin typeface="Segoe UI"/>
              </a:rPr>
              <a:t>Un contrato de datos común: PatternData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8699"/>
                </a:solidFill>
                <a:latin typeface="Segoe UI"/>
              </a:rPr>
              <a:t>76 tests en verde · 5 ramas · una sola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CÓMO TRABAJAMOS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Cinco personas, un solo contrato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17320" y="2688336"/>
            <a:ext cx="9354311" cy="10972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8136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D3A4F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9856"/>
            <a:ext cx="155448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699"/>
                </a:solidFill>
                <a:latin typeface="Segoe UI"/>
              </a:rPr>
              <a:t>1.427 líneas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D3A4F"/>
                </a:solidFill>
                <a:latin typeface="Segoe UI"/>
              </a:rPr>
              <a:t>Motor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3419856"/>
            <a:ext cx="155448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699"/>
                </a:solidFill>
                <a:latin typeface="Segoe UI"/>
              </a:rPr>
              <a:t>1.534 líneas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D3A4F"/>
                </a:solidFill>
                <a:latin typeface="Segoe UI"/>
              </a:rPr>
              <a:t>Social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2664" y="3419856"/>
            <a:ext cx="155448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699"/>
                </a:solidFill>
                <a:latin typeface="Segoe UI"/>
              </a:rPr>
              <a:t>1.142 líneas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1584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D3A4F"/>
                </a:solidFill>
                <a:latin typeface="Segoe UI"/>
              </a:rPr>
              <a:t>Editor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419856"/>
            <a:ext cx="155448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699"/>
                </a:solidFill>
                <a:latin typeface="Segoe UI"/>
              </a:rPr>
              <a:t>3.412 líneas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42448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42448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92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D3A4F"/>
                </a:solidFill>
                <a:latin typeface="Segoe UI"/>
              </a:rPr>
              <a:t>Social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4392" y="3419856"/>
            <a:ext cx="155448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699"/>
                </a:solidFill>
                <a:latin typeface="Segoe UI"/>
              </a:rPr>
              <a:t>3.390 líneas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12463"/>
            <a:ext cx="10637215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699"/>
                </a:solidFill>
                <a:latin typeface="Segoe UI"/>
              </a:rPr>
              <a:t>10.905 líneas propias + 834 compartidas · 76 tests en verde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069080"/>
            <a:ext cx="3401568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3271" y="4334256"/>
            <a:ext cx="91440" cy="91440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2143" y="4334256"/>
            <a:ext cx="91440" cy="91440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3271" y="4453128"/>
            <a:ext cx="91440" cy="91440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2143" y="4453128"/>
            <a:ext cx="91440" cy="91440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3271" y="4727448"/>
            <a:ext cx="2889504" cy="6400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D3A4F"/>
                </a:solidFill>
                <a:latin typeface="Segoe UI"/>
              </a:rPr>
              <a:t>Contrato de API desde el minuto 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98264" y="4069080"/>
            <a:ext cx="3401568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54296" y="4334256"/>
            <a:ext cx="91440" cy="91440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73168" y="4334256"/>
            <a:ext cx="91440" cy="91440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54296" y="4453128"/>
            <a:ext cx="91440" cy="91440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73168" y="4453128"/>
            <a:ext cx="91440" cy="91440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54296" y="4727448"/>
            <a:ext cx="2889504" cy="6400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D3A4F"/>
                </a:solidFill>
                <a:latin typeface="Segoe UI"/>
              </a:rPr>
              <a:t>Un dueño por archivo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19288" y="4069080"/>
            <a:ext cx="3401568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75319" y="4334256"/>
            <a:ext cx="91440" cy="91440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394192" y="4334256"/>
            <a:ext cx="91440" cy="91440"/>
          </a:xfrm>
          <a:prstGeom prst="rect">
            <a:avLst/>
          </a:prstGeom>
          <a:solidFill>
            <a:srgbClr val="F3B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19" y="4453128"/>
            <a:ext cx="91440" cy="91440"/>
          </a:xfrm>
          <a:prstGeom prst="rect">
            <a:avLst/>
          </a:prstGeom>
          <a:solidFill>
            <a:srgbClr val="3D3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94192" y="4453128"/>
            <a:ext cx="91440" cy="91440"/>
          </a:xfrm>
          <a:prstGeom prst="rect">
            <a:avLst/>
          </a:prstGeom>
          <a:solidFill>
            <a:srgbClr val="B249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4727448"/>
            <a:ext cx="2889504" cy="6400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D3A4F"/>
                </a:solidFill>
                <a:latin typeface="Segoe UI"/>
              </a:rPr>
              <a:t>Agentes de IA (opencode) en paralelo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D3A4F"/>
                </a:solidFill>
                <a:latin typeface="Segoe UI"/>
              </a:rPr>
              <a:t>Lo que viene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9587E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3D3A4F"/>
                </a:solidFill>
                <a:latin typeface="Segoe UI"/>
              </a:rPr>
              <a:t>Más marcas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224528"/>
            <a:ext cx="1920240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8699"/>
                </a:solidFill>
                <a:latin typeface="Segoe UI"/>
              </a:rPr>
              <a:t>Paletas de más fabricantes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9587E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3D3A4F"/>
                </a:solidFill>
                <a:latin typeface="Segoe UI"/>
              </a:rPr>
              <a:t>App móvil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76472" y="4224528"/>
            <a:ext cx="1920240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8699"/>
                </a:solidFill>
                <a:latin typeface="Segoe UI"/>
              </a:rPr>
              <a:t>Cámara integrada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9587E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3D3A4F"/>
                </a:solidFill>
                <a:latin typeface="Segoe UI"/>
              </a:rPr>
              <a:t>Patrones 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1384" y="4224528"/>
            <a:ext cx="1920240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8699"/>
                </a:solidFill>
                <a:latin typeface="Segoe UI"/>
              </a:rPr>
              <a:t>HAMA en relieve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1E7E2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9587E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3D3A4F"/>
                </a:solidFill>
                <a:latin typeface="Segoe UI"/>
              </a:rPr>
              <a:t>Tienda de kits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6" y="4224528"/>
            <a:ext cx="1920240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8699"/>
                </a:solidFill>
                <a:latin typeface="Segoe UI"/>
              </a:rPr>
              <a:t>Materiales exactos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F1E7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Pixel Pattern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C9587E"/>
                </a:solidFill>
                <a:latin typeface="Segoe UI"/>
              </a:rPr>
              <a:t>EL PRÓXIMO PATRÓN ES TUYO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6949440" cy="7315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3D3A4F"/>
                </a:solidFill>
                <a:latin typeface="Segoe UI"/>
              </a:rPr>
              <a:t>Pixel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93392"/>
            <a:ext cx="6949440" cy="10058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C9587E"/>
                </a:solidFill>
                <a:latin typeface="Segoe UI"/>
              </a:rPr>
              <a:t>¡Gracias!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3364992"/>
            <a:ext cx="1051560" cy="6400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3675887"/>
            <a:ext cx="6400800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3A4F"/>
                </a:solidFill>
                <a:latin typeface="Segoe UI"/>
              </a:rPr>
              <a:t>Demo, código y tests en el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114800"/>
            <a:ext cx="640080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8699"/>
                </a:solidFill>
                <a:latin typeface="Segoe UI"/>
              </a:rPr>
              <a:t>[enlace a la demo]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731520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A8699"/>
                </a:solidFill>
                <a:latin typeface="Segoe UI"/>
              </a:rPr>
              <a:t>[Nombre del equipo] · [Nombre del hackathon]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481328"/>
            <a:ext cx="306324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587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481328"/>
            <a:ext cx="3063240" cy="306324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8699"/>
                </a:solidFill>
                <a:latin typeface="Segoe UI"/>
              </a:rPr>
              <a:t>[QR / enlace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8699"/>
                </a:solidFill>
                <a:latin typeface="Segoe UI"/>
              </a:rPr>
              <a:t>a la demo]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66276" y="495604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44584" y="495604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57816" y="495604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36124" y="495604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66276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84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22892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79508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57816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36124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14432" y="513435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87968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276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44584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2892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9508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57816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36124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14432" y="531266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66276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44584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22892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79508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57816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36124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314432" y="5490972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6276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44584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22892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0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779508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957816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36124" y="5669280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44584" y="584758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22892" y="584758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01200" y="584758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79508" y="584758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57816" y="5847588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22892" y="602589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01200" y="602589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79508" y="6025896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01200" y="6204204"/>
            <a:ext cx="155448" cy="155448"/>
          </a:xfrm>
          <a:prstGeom prst="rect">
            <a:avLst/>
          </a:prstGeom>
          <a:solidFill>
            <a:srgbClr val="C95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699"/>
                </a:solidFill>
                <a:latin typeface="Segoe U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 Pattern — Pitch</dc:title>
  <dc:subject>Crea, comparte y haz patrones de HAMA y punto de cruz</dc:subject>
  <dc:creator>Pixel Pattern</dc:creator>
  <cp:keywords>HAMA, punto de cruz, patrones, hackathon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